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Stage Distribution by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2605</c:v>
                </c:pt>
                <c:pt idx="1">
                  <c:v>2570</c:v>
                </c:pt>
                <c:pt idx="2">
                  <c:v>2854</c:v>
                </c:pt>
                <c:pt idx="3">
                  <c:v>2723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392</c:v>
                </c:pt>
                <c:pt idx="1">
                  <c:v>428</c:v>
                </c:pt>
                <c:pt idx="2">
                  <c:v>143</c:v>
                </c:pt>
                <c:pt idx="3">
                  <c:v>276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Stage 2 Loans by SIRC Threshold (Q1 vs Q2)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– Stage 2 count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1.0x</c:v>
                  </c:pt>
                  <c:pt idx="1">
                    <c:v>1.1x</c:v>
                  </c:pt>
                  <c:pt idx="2">
                    <c:v>1.2x</c:v>
                  </c:pt>
                  <c:pt idx="3">
                    <c:v>1.3x</c:v>
                  </c:pt>
                  <c:pt idx="4">
                    <c:v>1.4x</c:v>
                  </c:pt>
                  <c:pt idx="5">
                    <c:v>1.5x</c:v>
                  </c:pt>
                  <c:pt idx="6">
                    <c:v>1.6x</c:v>
                  </c:pt>
                  <c:pt idx="7">
                    <c:v>1.7x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3000</c:v>
                </c:pt>
                <c:pt idx="1">
                  <c:v>2988</c:v>
                </c:pt>
                <c:pt idx="2">
                  <c:v>2488</c:v>
                </c:pt>
                <c:pt idx="3">
                  <c:v>1255</c:v>
                </c:pt>
                <c:pt idx="4">
                  <c:v>438</c:v>
                </c:pt>
                <c:pt idx="5">
                  <c:v>82</c:v>
                </c:pt>
                <c:pt idx="6">
                  <c:v>15</c:v>
                </c:pt>
                <c:pt idx="7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– Stage 2 count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1.0x</c:v>
                  </c:pt>
                  <c:pt idx="1">
                    <c:v>1.1x</c:v>
                  </c:pt>
                  <c:pt idx="2">
                    <c:v>1.2x</c:v>
                  </c:pt>
                  <c:pt idx="3">
                    <c:v>1.3x</c:v>
                  </c:pt>
                  <c:pt idx="4">
                    <c:v>1.4x</c:v>
                  </c:pt>
                  <c:pt idx="5">
                    <c:v>1.5x</c:v>
                  </c:pt>
                  <c:pt idx="6">
                    <c:v>1.6x</c:v>
                  </c:pt>
                  <c:pt idx="7">
                    <c:v>1.7x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3000</c:v>
                </c:pt>
                <c:pt idx="1">
                  <c:v>3000</c:v>
                </c:pt>
                <c:pt idx="2">
                  <c:v>2993</c:v>
                </c:pt>
                <c:pt idx="3">
                  <c:v>2727</c:v>
                </c:pt>
                <c:pt idx="4">
                  <c:v>1654</c:v>
                </c:pt>
                <c:pt idx="5">
                  <c:v>547</c:v>
                </c:pt>
                <c:pt idx="6">
                  <c:v>199</c:v>
                </c:pt>
                <c:pt idx="7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54864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822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Credit Loss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0" y="2286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Methodology &amp; Validation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2834640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971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3,000 Loans  |  20 Quarterly Reporting Periods  |  PD / LGD / EAD Framework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13716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Model Documentation   |   Risk &amp; Finance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three-stage ECL framework — end-to-end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loan 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579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Through-the-cycle PD (TTC PD)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forecasts (Z-values)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factor: 0.15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 (9%–18%)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913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terms 1–5 years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43000"/>
            <a:ext cx="2788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719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→ PIT PD conversion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1579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Merton model Z-transform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rating scale (15 grades)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staging rules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474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amortisation schedules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913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SIRC sensitivity testing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1430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143000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1719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12-month ECL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1579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Lifetime ECL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Default ECL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by customer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474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summary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913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Quarter-on-quarter roll forward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89320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Methodology: TTC → PIT Conversion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Merton model approach with macroeconomic conditioning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PD  =  Φ [ ( Φ⁻¹(TTC PD) − √ρ · Z ) / √(1 − ρ)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5740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 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Normal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05740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Φ⁻¹( 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Normal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2057400"/>
            <a:ext cx="54864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0.15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64024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Correlation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 II guided)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2057400"/>
            <a:ext cx="54864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0296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Economic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(quarterly)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8595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5661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Start with TTC PD from historical default data per borrower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80390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Convert TTC PD to standard normal space using Φ⁻¹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0416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Apply quarterly Z-value (economic forecast) to condition on current macro environment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27939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Asset correlation ρ=0.15 captures co-movement with systematic risk factor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51713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Back-transform via Φ to obtain Point-In-Time (PIT) 12-month PD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Staging Classification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and absolute criteria for stage assignment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ECL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PD ≤ 30% relative increase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Increase in Credit Risk (SICR)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697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= 12-month expected loss only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1546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flag applied (Grade 1–8 roughly)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389120"/>
            <a:ext cx="2788920" cy="41148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434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loans: ~2,600–2,850  (87–95%)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788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43000"/>
            <a:ext cx="2788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4264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17830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PD &gt; 30% relative increase vs origination PD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absolute PD &gt; threshold (e.g. 5%)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2697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lifetime ECL recognised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31546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sensitive to macro Z-score changes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4389120"/>
            <a:ext cx="2788920" cy="41148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434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loans: ~143–428  (5–14%)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143000"/>
            <a:ext cx="2788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143000"/>
            <a:ext cx="2788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14264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Credit-Impaired ECL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7648" y="17830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evidence of impairment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27648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or near-default status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27648" y="2697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lifetime ECL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7648" y="31546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applied at 30% (1 − Recovery Rate)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2788920" cy="41148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434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loans: ~1–3  (&lt;0.1%)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Calculation: Exposure, Loss &amp; Discounting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= PD × LGD × EAD, discounted to present value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 =  Σt [ PD(t) × LGD × EAD(t) × Discount Factor(t)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39112"/>
            <a:ext cx="17830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PD(t)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443734"/>
            <a:ext cx="1783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PD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on survival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9659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9659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039112"/>
            <a:ext cx="17830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= 30%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2443734"/>
            <a:ext cx="1783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Given Default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(1 − 70% recovery)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9659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9659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039112"/>
            <a:ext cx="17830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EAD(t)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2443734"/>
            <a:ext cx="1783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at Default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Amortising loan balance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19659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196596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039112"/>
            <a:ext cx="17830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DF(t)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2443734"/>
            <a:ext cx="17830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1/(1+r)^t using EIR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AMORTISATION (EAD)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37560"/>
          <a:ext cx="4023360" cy="13716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Opening Bal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EMI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Closing Bal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Month 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2,746,815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244,051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2,530,232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Month 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2,530,232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244,051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2,311,483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Month 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2,311,483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244,051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2,090,547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Month 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241,635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244,051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572000" y="297180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 — STAGE 2 EXAMPLE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63440" y="3364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probability chain: P(survive to t) = Π(1-PD)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63440" y="3639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PD(t) = PD × prior survival prob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663440" y="39136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amortises each period with loan balance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663440" y="4187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ECL at each year discounted by EIR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63440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(4yr loan): Lifetime ECL = £41,850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Results &amp; Provision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loans across 9 reporting quarters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54864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114300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84248" y="114300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216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£4.85bn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21408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(Orig.)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9896" y="114300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9896" y="1143000"/>
            <a:ext cx="54864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216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£59.9M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77056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ECL (12-Month)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95544" y="114300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95544" y="114300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1216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£1.4M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32704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ECL (Lifetime)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51192" y="114300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51192" y="114300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8352" y="1216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£61.3M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88352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Provision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212848"/>
          <a:ext cx="5029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5486400" y="2212848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RATES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32120" y="2706624"/>
            <a:ext cx="3337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ECL / Total OS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315200" y="2715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1.23%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32120" y="3008376"/>
            <a:ext cx="3337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ECL / Total OS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315200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1.26%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532120" y="3310128"/>
            <a:ext cx="3337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7784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Provision / Book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315200" y="3319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1.38% (blended)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532120" y="3611880"/>
            <a:ext cx="3337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LGD Applied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31520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(70% recovery)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532120" y="3913632"/>
            <a:ext cx="3337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77840" y="3922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(EIR)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315200" y="3922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– 18% p.a.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532120" y="4215384"/>
            <a:ext cx="3337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7784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SIRC Relative Threshold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315200" y="42245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PD increase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532120" y="4517136"/>
            <a:ext cx="3337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77840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at 1.5x threshold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315200" y="4526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~82–547 loans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SIRC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 and portfolio stability under stress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SIRC (Significant Increase in Credit Risk) is triggered when PIT PD exceeds the origination PD by a relative threshold multiplier (e.g. 1.3x = 30% increase). This drives Stage 2 classification and lifetime ECL recognition.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874520"/>
          <a:ext cx="47548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212080" y="1874520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9240" y="23500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 is high: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1.2x→1.3x cuts Stage 2 by ~50% in Q1.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49240" y="27523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distribution is broadly stable across Q1–Q4 suggesting model is not excessively sensitive to quarterly macro swings.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49240" y="3154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has more Stage 2: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Z-score volatility drives more SICR triggers in Q2.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49240" y="35570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1.5x threshold: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loans (Q1) to 547 (Q2) — 7x range highlights economic cycle impact.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49240" y="39593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threshold: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 relative (regulatory best practice baseline).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 &amp; Governance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3291840"/>
          </a:xfrm>
          <a:prstGeom prst="rect">
            <a:avLst/>
          </a:prstGeom>
          <a:solidFill>
            <a:srgbClr val="253370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251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STRENGTHS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Merton-based PIT PD framework — regulatory best practice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Macro-conditioned via quarterly Z-scores — forward-looking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3,000-loan portfolio provides statistical robustness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SIRC sensitivity testing across 13 threshold levels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uses actual amortisation schedule (not flat balance)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at Effective Interest Rate per IFRS 9 §5.4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51960" cy="3291840"/>
          </a:xfrm>
          <a:prstGeom prst="rect">
            <a:avLst/>
          </a:prstGeom>
          <a:solidFill>
            <a:srgbClr val="25337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42519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5214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RECOMMENDATIONS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fixed at 30% — consider loan-level collateral modelling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systemic factor Z — multi-factor model for diversification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very low (&lt;0.1%) — validate default definition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PD range 0.5%–20.9% — validate against actual defaults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LGD downturn adjustment for IFRS 9 §B5.5.55 compliance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backtesting once 12+ months of realised defaults available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Provision: £61.3M  |  Provision Rate: 1.38%  |  Portfolio: 3,000 Loans  |  Stage 1: 91.0%  Stage 2: 9.0%  Stage 3: &lt;0.1%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IFRS 9 ECL Model – Summary</dc:title>
  <dc:subject>PptxGenJS Presentation</dc:subject>
  <dc:creator>IFRS 9 ECL Model</dc:creator>
  <cp:lastModifiedBy>IFRS 9 ECL Model</cp:lastModifiedBy>
  <cp:revision>1</cp:revision>
  <dcterms:created xsi:type="dcterms:W3CDTF">2026-03-03T11:24:51Z</dcterms:created>
  <dcterms:modified xsi:type="dcterms:W3CDTF">2026-03-03T11:24:51Z</dcterms:modified>
</cp:coreProperties>
</file>